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p:regular r:id="rId28"/>
      <p:bold r:id="rId29"/>
      <p:italic r:id="rId30"/>
      <p:boldItalic r:id="rId31"/>
    </p:embeddedFont>
    <p:embeddedFont>
      <p:font typeface="Source Code Pro"/>
      <p:regular r:id="rId32"/>
      <p:bold r:id="rId33"/>
      <p:italic r:id="rId34"/>
      <p:boldItalic r:id="rId35"/>
    </p:embeddedFont>
    <p:embeddedFont>
      <p:font typeface="Oswald"/>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SourceCodePro-bold.fntdata"/><Relationship Id="rId10" Type="http://schemas.openxmlformats.org/officeDocument/2006/relationships/slide" Target="slides/slide5.xml"/><Relationship Id="rId32" Type="http://schemas.openxmlformats.org/officeDocument/2006/relationships/font" Target="fonts/SourceCodePro-regular.fntdata"/><Relationship Id="rId13" Type="http://schemas.openxmlformats.org/officeDocument/2006/relationships/slide" Target="slides/slide8.xml"/><Relationship Id="rId35" Type="http://schemas.openxmlformats.org/officeDocument/2006/relationships/font" Target="fonts/SourceCodePro-boldItalic.fntdata"/><Relationship Id="rId12" Type="http://schemas.openxmlformats.org/officeDocument/2006/relationships/slide" Target="slides/slide7.xml"/><Relationship Id="rId34" Type="http://schemas.openxmlformats.org/officeDocument/2006/relationships/font" Target="fonts/SourceCodePro-italic.fntdata"/><Relationship Id="rId15" Type="http://schemas.openxmlformats.org/officeDocument/2006/relationships/slide" Target="slides/slide10.xml"/><Relationship Id="rId37" Type="http://schemas.openxmlformats.org/officeDocument/2006/relationships/font" Target="fonts/Oswald-bold.fntdata"/><Relationship Id="rId14" Type="http://schemas.openxmlformats.org/officeDocument/2006/relationships/slide" Target="slides/slide9.xml"/><Relationship Id="rId36" Type="http://schemas.openxmlformats.org/officeDocument/2006/relationships/font" Target="fonts/Oswald-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9dfd50b40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9dfd50b40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99de6cd27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99de6cd27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99de6cd27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99de6cd27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99de6cd27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99de6cd27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99de6cd27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99de6cd27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9de6cd27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99de6cd27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9de6cd27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9de6cd27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99de6cd278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99de6cd278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9de6cd278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99de6cd278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them the data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9de6cd27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9de6cd27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99de6cd278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99de6cd278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9b4997c53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9b4997c53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Walk them step to step and show them the edges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9b4997c53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9b4997c53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9dfd50b40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9dfd50b40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9dfd50b40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9dfd50b40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dfd50b40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dfd50b40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dfd50b40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9dfd50b40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9b4997c53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9b4997c53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9b4997c5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9b4997c5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9dfd50b4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9dfd50b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99de6cd27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99de6cd27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Analysis of Massive Graphs</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DSCI 553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265500" y="1078750"/>
            <a:ext cx="4045200" cy="178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Outline</a:t>
            </a:r>
            <a:endParaRPr/>
          </a:p>
        </p:txBody>
      </p:sp>
      <p:sp>
        <p:nvSpPr>
          <p:cNvPr id="69" name="Google Shape;69;p14"/>
          <p:cNvSpPr txBox="1"/>
          <p:nvPr>
            <p:ph idx="2" type="body"/>
          </p:nvPr>
        </p:nvSpPr>
        <p:spPr>
          <a:xfrm>
            <a:off x="4572000" y="724200"/>
            <a:ext cx="4572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Different types of network.</a:t>
            </a:r>
            <a:endParaRPr/>
          </a:p>
          <a:p>
            <a:pPr indent="-342900" lvl="0" marL="457200" rtl="0" algn="l">
              <a:spcBef>
                <a:spcPts val="0"/>
              </a:spcBef>
              <a:spcAft>
                <a:spcPts val="0"/>
              </a:spcAft>
              <a:buSzPts val="1800"/>
              <a:buChar char="●"/>
            </a:pPr>
            <a:r>
              <a:rPr lang="en"/>
              <a:t>How to create networks.</a:t>
            </a:r>
            <a:endParaRPr/>
          </a:p>
          <a:p>
            <a:pPr indent="-342900" lvl="0" marL="457200" rtl="0" algn="l">
              <a:spcBef>
                <a:spcPts val="0"/>
              </a:spcBef>
              <a:spcAft>
                <a:spcPts val="0"/>
              </a:spcAft>
              <a:buSzPts val="1800"/>
              <a:buChar char="●"/>
            </a:pPr>
            <a:r>
              <a:rPr lang="en"/>
              <a:t>Work with Gephi.</a:t>
            </a:r>
            <a:endParaRPr/>
          </a:p>
          <a:p>
            <a:pPr indent="-342900" lvl="0" marL="457200" rtl="0" algn="l">
              <a:spcBef>
                <a:spcPts val="0"/>
              </a:spcBef>
              <a:spcAft>
                <a:spcPts val="0"/>
              </a:spcAft>
              <a:buSzPts val="1800"/>
              <a:buChar char="●"/>
            </a:pPr>
            <a:r>
              <a:rPr lang="en"/>
              <a:t>Save, load, analyze.</a:t>
            </a:r>
            <a:endParaRPr/>
          </a:p>
          <a:p>
            <a:pPr indent="-342900" lvl="0" marL="457200" rtl="0" algn="l">
              <a:spcBef>
                <a:spcPts val="0"/>
              </a:spcBef>
              <a:spcAft>
                <a:spcPts val="0"/>
              </a:spcAft>
              <a:buSzPts val="1800"/>
              <a:buChar char="●"/>
            </a:pPr>
            <a:r>
              <a:rPr lang="en"/>
              <a:t>Degree and degree centrality</a:t>
            </a:r>
            <a:endParaRPr/>
          </a:p>
          <a:p>
            <a:pPr indent="-342900" lvl="0" marL="457200" rtl="0" algn="l">
              <a:spcBef>
                <a:spcPts val="0"/>
              </a:spcBef>
              <a:spcAft>
                <a:spcPts val="0"/>
              </a:spcAft>
              <a:buSzPts val="1800"/>
              <a:buChar char="●"/>
            </a:pPr>
            <a:r>
              <a:rPr lang="en"/>
              <a:t>Betweenness</a:t>
            </a:r>
            <a:r>
              <a:rPr lang="en"/>
              <a:t> centrality.</a:t>
            </a:r>
            <a:endParaRPr/>
          </a:p>
          <a:p>
            <a:pPr indent="-342900" lvl="0" marL="457200" rtl="0" algn="l">
              <a:spcBef>
                <a:spcPts val="0"/>
              </a:spcBef>
              <a:spcAft>
                <a:spcPts val="0"/>
              </a:spcAft>
              <a:buSzPts val="1800"/>
              <a:buChar char="●"/>
            </a:pPr>
            <a:r>
              <a:rPr lang="en"/>
              <a:t>Homework Discussion.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Different Types of Networks</a:t>
            </a:r>
            <a:endParaRPr/>
          </a:p>
        </p:txBody>
      </p:sp>
      <p:sp>
        <p:nvSpPr>
          <p:cNvPr id="75" name="Google Shape;75;p15"/>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Collaboration network</a:t>
            </a:r>
            <a:endParaRPr/>
          </a:p>
          <a:p>
            <a:pPr indent="-342900" lvl="0" marL="457200" rtl="0" algn="l">
              <a:spcBef>
                <a:spcPts val="0"/>
              </a:spcBef>
              <a:spcAft>
                <a:spcPts val="0"/>
              </a:spcAft>
              <a:buSzPts val="1800"/>
              <a:buChar char="●"/>
            </a:pPr>
            <a:r>
              <a:rPr lang="en"/>
              <a:t>Retweet network</a:t>
            </a:r>
            <a:endParaRPr/>
          </a:p>
          <a:p>
            <a:pPr indent="-342900" lvl="0" marL="457200" rtl="0" algn="l">
              <a:spcBef>
                <a:spcPts val="0"/>
              </a:spcBef>
              <a:spcAft>
                <a:spcPts val="0"/>
              </a:spcAft>
              <a:buSzPts val="1800"/>
              <a:buChar char="●"/>
            </a:pPr>
            <a:r>
              <a:rPr lang="en"/>
              <a:t>Mention network</a:t>
            </a:r>
            <a:endParaRPr/>
          </a:p>
          <a:p>
            <a:pPr indent="-342900" lvl="0" marL="457200" rtl="0" algn="l">
              <a:spcBef>
                <a:spcPts val="0"/>
              </a:spcBef>
              <a:spcAft>
                <a:spcPts val="0"/>
              </a:spcAft>
              <a:buSzPts val="1800"/>
              <a:buChar char="●"/>
            </a:pPr>
            <a:r>
              <a:rPr lang="en"/>
              <a:t>Following-Follower network</a:t>
            </a:r>
            <a:endParaRPr/>
          </a:p>
          <a:p>
            <a:pPr indent="-342900" lvl="0" marL="457200" rtl="0" algn="l">
              <a:spcBef>
                <a:spcPts val="0"/>
              </a:spcBef>
              <a:spcAft>
                <a:spcPts val="0"/>
              </a:spcAft>
              <a:buSzPts val="1800"/>
              <a:buChar char="●"/>
            </a:pPr>
            <a:r>
              <a:rPr lang="en"/>
              <a:t>Protein</a:t>
            </a:r>
            <a:r>
              <a:rPr lang="en"/>
              <a:t> network</a:t>
            </a:r>
            <a:endParaRPr/>
          </a:p>
          <a:p>
            <a:pPr indent="0" lvl="0" marL="0" rtl="0" algn="l">
              <a:spcBef>
                <a:spcPts val="1600"/>
              </a:spcBef>
              <a:spcAft>
                <a:spcPts val="1600"/>
              </a:spcAft>
              <a:buNone/>
            </a:pPr>
            <a:r>
              <a:rPr lang="en"/>
              <a:t>Depending on the network, you may need to incorporate different </a:t>
            </a:r>
            <a:r>
              <a:rPr lang="en"/>
              <a:t>characteristics</a:t>
            </a:r>
            <a:r>
              <a:rPr lang="en"/>
              <a:t> in the network.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t>
            </a:r>
            <a:r>
              <a:rPr lang="en"/>
              <a:t>Characteristics</a:t>
            </a:r>
            <a:r>
              <a:rPr lang="en"/>
              <a:t>?</a:t>
            </a:r>
            <a:endParaRPr/>
          </a:p>
        </p:txBody>
      </p:sp>
      <p:sp>
        <p:nvSpPr>
          <p:cNvPr id="81" name="Google Shape;81;p16"/>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 networks are directed.</a:t>
            </a:r>
            <a:endParaRPr/>
          </a:p>
          <a:p>
            <a:pPr indent="-342900" lvl="0" marL="457200" rtl="0" algn="l">
              <a:spcBef>
                <a:spcPts val="0"/>
              </a:spcBef>
              <a:spcAft>
                <a:spcPts val="0"/>
              </a:spcAft>
              <a:buSzPts val="1800"/>
              <a:buChar char="●"/>
            </a:pPr>
            <a:r>
              <a:rPr lang="en"/>
              <a:t>Some are weighted.</a:t>
            </a:r>
            <a:endParaRPr/>
          </a:p>
          <a:p>
            <a:pPr indent="-342900" lvl="0" marL="457200" rtl="0" algn="l">
              <a:spcBef>
                <a:spcPts val="0"/>
              </a:spcBef>
              <a:spcAft>
                <a:spcPts val="0"/>
              </a:spcAft>
              <a:buSzPts val="1800"/>
              <a:buChar char="●"/>
            </a:pPr>
            <a:r>
              <a:rPr lang="en"/>
              <a:t>Some are undirected.</a:t>
            </a:r>
            <a:endParaRPr/>
          </a:p>
          <a:p>
            <a:pPr indent="-342900" lvl="0" marL="457200" rtl="0" algn="l">
              <a:spcBef>
                <a:spcPts val="0"/>
              </a:spcBef>
              <a:spcAft>
                <a:spcPts val="0"/>
              </a:spcAft>
              <a:buSzPts val="1800"/>
              <a:buChar char="●"/>
            </a:pPr>
            <a:r>
              <a:rPr lang="en"/>
              <a:t>Some have different edge types.</a:t>
            </a:r>
            <a:endParaRPr/>
          </a:p>
          <a:p>
            <a:pPr indent="-342900" lvl="0" marL="457200" rtl="0" algn="l">
              <a:spcBef>
                <a:spcPts val="0"/>
              </a:spcBef>
              <a:spcAft>
                <a:spcPts val="0"/>
              </a:spcAft>
              <a:buSzPts val="1800"/>
              <a:buChar char="●"/>
            </a:pPr>
            <a:r>
              <a:rPr lang="en"/>
              <a:t>Some have combination of two or more </a:t>
            </a:r>
            <a:r>
              <a:rPr lang="en"/>
              <a:t>characteristics</a:t>
            </a:r>
            <a:r>
              <a:rPr lang="en"/>
              <a:t> above!</a:t>
            </a:r>
            <a:endParaRPr/>
          </a:p>
          <a:p>
            <a:pPr indent="0" lvl="0" marL="45720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Can We Create Such </a:t>
            </a:r>
            <a:r>
              <a:rPr lang="en"/>
              <a:t>Networks</a:t>
            </a:r>
            <a:endParaRPr/>
          </a:p>
        </p:txBody>
      </p:sp>
      <p:sp>
        <p:nvSpPr>
          <p:cNvPr id="87" name="Google Shape;87;p17"/>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Using networkx!</a:t>
            </a:r>
            <a:endParaRPr/>
          </a:p>
          <a:p>
            <a:pPr indent="-342900" lvl="0" marL="457200" rtl="0" algn="l">
              <a:spcBef>
                <a:spcPts val="0"/>
              </a:spcBef>
              <a:spcAft>
                <a:spcPts val="0"/>
              </a:spcAft>
              <a:buSzPts val="1800"/>
              <a:buChar char="●"/>
            </a:pPr>
            <a:r>
              <a:rPr lang="en"/>
              <a:t>networkx supports different types of graphs with </a:t>
            </a:r>
            <a:r>
              <a:rPr lang="en"/>
              <a:t>variety</a:t>
            </a:r>
            <a:r>
              <a:rPr lang="en"/>
              <a:t> of analysis tools.</a:t>
            </a:r>
            <a:endParaRPr/>
          </a:p>
          <a:p>
            <a:pPr indent="-342900" lvl="0" marL="457200" rtl="0" algn="l">
              <a:spcBef>
                <a:spcPts val="0"/>
              </a:spcBef>
              <a:spcAft>
                <a:spcPts val="0"/>
              </a:spcAft>
              <a:buSzPts val="1800"/>
              <a:buChar char="●"/>
            </a:pPr>
            <a:r>
              <a:rPr lang="en"/>
              <a:t>You can install networkx by simply doing:</a:t>
            </a:r>
            <a:endParaRPr/>
          </a:p>
          <a:p>
            <a:pPr indent="-317500" lvl="1" marL="914400" rtl="0" algn="l">
              <a:spcBef>
                <a:spcPts val="0"/>
              </a:spcBef>
              <a:spcAft>
                <a:spcPts val="0"/>
              </a:spcAft>
              <a:buSzPts val="1400"/>
              <a:buChar char="○"/>
            </a:pPr>
            <a:r>
              <a:rPr lang="en"/>
              <a:t>Pip install netowrkx</a:t>
            </a:r>
            <a:endParaRPr/>
          </a:p>
          <a:p>
            <a:pPr indent="-342900" lvl="0" marL="457200" rtl="0" algn="l">
              <a:spcBef>
                <a:spcPts val="0"/>
              </a:spcBef>
              <a:spcAft>
                <a:spcPts val="0"/>
              </a:spcAft>
              <a:buSzPts val="1800"/>
              <a:buChar char="●"/>
            </a:pPr>
            <a:r>
              <a:rPr lang="en"/>
              <a:t>We will test this and make sure everyone has this installed and is able to work with it couple of slides later… (for now you can try to install 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Some Types of Graphs in Networkx</a:t>
            </a:r>
            <a:endParaRPr/>
          </a:p>
        </p:txBody>
      </p:sp>
      <p:sp>
        <p:nvSpPr>
          <p:cNvPr id="93" name="Google Shape;93;p18"/>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Graph</a:t>
            </a:r>
            <a:endParaRPr/>
          </a:p>
          <a:p>
            <a:pPr indent="-317500" lvl="1" marL="914400" rtl="0" algn="l">
              <a:spcBef>
                <a:spcPts val="0"/>
              </a:spcBef>
              <a:spcAft>
                <a:spcPts val="0"/>
              </a:spcAft>
              <a:buSzPts val="1400"/>
              <a:buChar char="○"/>
            </a:pPr>
            <a:r>
              <a:rPr lang="en" sz="1200">
                <a:solidFill>
                  <a:srgbClr val="222222"/>
                </a:solidFill>
                <a:highlight>
                  <a:srgbClr val="FFFFFF"/>
                </a:highlight>
                <a:latin typeface="Roboto"/>
                <a:ea typeface="Roboto"/>
                <a:cs typeface="Roboto"/>
                <a:sym typeface="Roboto"/>
              </a:rPr>
              <a:t>Undirected </a:t>
            </a:r>
            <a:r>
              <a:rPr b="1" lang="en" sz="1200">
                <a:solidFill>
                  <a:srgbClr val="222222"/>
                </a:solidFill>
                <a:highlight>
                  <a:srgbClr val="FFFFFF"/>
                </a:highlight>
                <a:latin typeface="Roboto"/>
                <a:ea typeface="Roboto"/>
                <a:cs typeface="Roboto"/>
                <a:sym typeface="Roboto"/>
              </a:rPr>
              <a:t>graphs</a:t>
            </a:r>
            <a:r>
              <a:rPr lang="en" sz="1200">
                <a:solidFill>
                  <a:srgbClr val="222222"/>
                </a:solidFill>
                <a:highlight>
                  <a:srgbClr val="FFFFFF"/>
                </a:highlight>
                <a:latin typeface="Roboto"/>
                <a:ea typeface="Roboto"/>
                <a:cs typeface="Roboto"/>
                <a:sym typeface="Roboto"/>
              </a:rPr>
              <a:t> with self loops.</a:t>
            </a:r>
            <a:endParaRPr/>
          </a:p>
          <a:p>
            <a:pPr indent="-342900" lvl="0" marL="457200" rtl="0" algn="l">
              <a:spcBef>
                <a:spcPts val="0"/>
              </a:spcBef>
              <a:spcAft>
                <a:spcPts val="0"/>
              </a:spcAft>
              <a:buSzPts val="1800"/>
              <a:buChar char="●"/>
            </a:pPr>
            <a:r>
              <a:rPr lang="en"/>
              <a:t>DiGraph</a:t>
            </a:r>
            <a:endParaRPr/>
          </a:p>
          <a:p>
            <a:pPr indent="-317500" lvl="1" marL="914400" rtl="0" algn="l">
              <a:spcBef>
                <a:spcPts val="0"/>
              </a:spcBef>
              <a:spcAft>
                <a:spcPts val="0"/>
              </a:spcAft>
              <a:buSzPts val="1400"/>
              <a:buChar char="○"/>
            </a:pPr>
            <a:r>
              <a:rPr lang="en" sz="1200">
                <a:solidFill>
                  <a:srgbClr val="222222"/>
                </a:solidFill>
                <a:highlight>
                  <a:srgbClr val="FFFFFF"/>
                </a:highlight>
                <a:latin typeface="Roboto"/>
                <a:ea typeface="Roboto"/>
                <a:cs typeface="Roboto"/>
                <a:sym typeface="Roboto"/>
              </a:rPr>
              <a:t>Directed </a:t>
            </a:r>
            <a:r>
              <a:rPr b="1" lang="en" sz="1200">
                <a:solidFill>
                  <a:srgbClr val="222222"/>
                </a:solidFill>
                <a:highlight>
                  <a:srgbClr val="FFFFFF"/>
                </a:highlight>
                <a:latin typeface="Roboto"/>
                <a:ea typeface="Roboto"/>
                <a:cs typeface="Roboto"/>
                <a:sym typeface="Roboto"/>
              </a:rPr>
              <a:t>graphs</a:t>
            </a:r>
            <a:r>
              <a:rPr lang="en" sz="1200">
                <a:solidFill>
                  <a:srgbClr val="222222"/>
                </a:solidFill>
                <a:highlight>
                  <a:srgbClr val="FFFFFF"/>
                </a:highlight>
                <a:latin typeface="Roboto"/>
                <a:ea typeface="Roboto"/>
                <a:cs typeface="Roboto"/>
                <a:sym typeface="Roboto"/>
              </a:rPr>
              <a:t> with self loops.</a:t>
            </a:r>
            <a:endParaRPr/>
          </a:p>
          <a:p>
            <a:pPr indent="-342900" lvl="0" marL="457200" rtl="0" algn="l">
              <a:spcBef>
                <a:spcPts val="0"/>
              </a:spcBef>
              <a:spcAft>
                <a:spcPts val="0"/>
              </a:spcAft>
              <a:buSzPts val="1800"/>
              <a:buChar char="●"/>
            </a:pPr>
            <a:r>
              <a:rPr lang="en"/>
              <a:t>MultiGraph</a:t>
            </a:r>
            <a:endParaRPr/>
          </a:p>
          <a:p>
            <a:pPr indent="-317500" lvl="1" marL="914400" rtl="0" algn="l">
              <a:spcBef>
                <a:spcPts val="0"/>
              </a:spcBef>
              <a:spcAft>
                <a:spcPts val="0"/>
              </a:spcAft>
              <a:buSzPts val="1400"/>
              <a:buChar char="○"/>
            </a:pPr>
            <a:r>
              <a:rPr lang="en" sz="1200">
                <a:solidFill>
                  <a:srgbClr val="222222"/>
                </a:solidFill>
                <a:highlight>
                  <a:srgbClr val="FFFFFF"/>
                </a:highlight>
                <a:latin typeface="Roboto"/>
                <a:ea typeface="Roboto"/>
                <a:cs typeface="Roboto"/>
                <a:sym typeface="Roboto"/>
              </a:rPr>
              <a:t>Undirected </a:t>
            </a:r>
            <a:r>
              <a:rPr b="1" lang="en" sz="1200">
                <a:solidFill>
                  <a:srgbClr val="222222"/>
                </a:solidFill>
                <a:highlight>
                  <a:srgbClr val="FFFFFF"/>
                </a:highlight>
                <a:latin typeface="Roboto"/>
                <a:ea typeface="Roboto"/>
                <a:cs typeface="Roboto"/>
                <a:sym typeface="Roboto"/>
              </a:rPr>
              <a:t>graphs</a:t>
            </a:r>
            <a:r>
              <a:rPr lang="en" sz="1200">
                <a:solidFill>
                  <a:srgbClr val="222222"/>
                </a:solidFill>
                <a:highlight>
                  <a:srgbClr val="FFFFFF"/>
                </a:highlight>
                <a:latin typeface="Roboto"/>
                <a:ea typeface="Roboto"/>
                <a:cs typeface="Roboto"/>
                <a:sym typeface="Roboto"/>
              </a:rPr>
              <a:t> with self loops and parallel edges.</a:t>
            </a:r>
            <a:endParaRPr/>
          </a:p>
          <a:p>
            <a:pPr indent="-342900" lvl="0" marL="457200" rtl="0" algn="l">
              <a:spcBef>
                <a:spcPts val="0"/>
              </a:spcBef>
              <a:spcAft>
                <a:spcPts val="0"/>
              </a:spcAft>
              <a:buSzPts val="1800"/>
              <a:buChar char="●"/>
            </a:pPr>
            <a:r>
              <a:rPr lang="en"/>
              <a:t>MultiDiGraph</a:t>
            </a:r>
            <a:endParaRPr/>
          </a:p>
          <a:p>
            <a:pPr indent="-317500" lvl="1" marL="914400" rtl="0" algn="l">
              <a:spcBef>
                <a:spcPts val="0"/>
              </a:spcBef>
              <a:spcAft>
                <a:spcPts val="0"/>
              </a:spcAft>
              <a:buSzPts val="1400"/>
              <a:buChar char="○"/>
            </a:pPr>
            <a:r>
              <a:rPr lang="en" sz="1200">
                <a:solidFill>
                  <a:srgbClr val="222222"/>
                </a:solidFill>
                <a:highlight>
                  <a:srgbClr val="FFFFFF"/>
                </a:highlight>
                <a:latin typeface="Roboto"/>
                <a:ea typeface="Roboto"/>
                <a:cs typeface="Roboto"/>
                <a:sym typeface="Roboto"/>
              </a:rPr>
              <a:t>Directed </a:t>
            </a:r>
            <a:r>
              <a:rPr b="1" lang="en" sz="1200">
                <a:solidFill>
                  <a:srgbClr val="222222"/>
                </a:solidFill>
                <a:highlight>
                  <a:srgbClr val="FFFFFF"/>
                </a:highlight>
                <a:latin typeface="Roboto"/>
                <a:ea typeface="Roboto"/>
                <a:cs typeface="Roboto"/>
                <a:sym typeface="Roboto"/>
              </a:rPr>
              <a:t>graphs</a:t>
            </a:r>
            <a:r>
              <a:rPr lang="en" sz="1200">
                <a:solidFill>
                  <a:srgbClr val="222222"/>
                </a:solidFill>
                <a:highlight>
                  <a:srgbClr val="FFFFFF"/>
                </a:highlight>
                <a:latin typeface="Roboto"/>
                <a:ea typeface="Roboto"/>
                <a:cs typeface="Roboto"/>
                <a:sym typeface="Roboto"/>
              </a:rPr>
              <a:t> with self loops and parallel edges.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a:t>
            </a:r>
            <a:endParaRPr/>
          </a:p>
        </p:txBody>
      </p:sp>
      <p:pic>
        <p:nvPicPr>
          <p:cNvPr id="99" name="Google Shape;99;p19"/>
          <p:cNvPicPr preferRelativeResize="0"/>
          <p:nvPr/>
        </p:nvPicPr>
        <p:blipFill>
          <a:blip r:embed="rId3">
            <a:alphaModFix/>
          </a:blip>
          <a:stretch>
            <a:fillRect/>
          </a:stretch>
        </p:blipFill>
        <p:spPr>
          <a:xfrm>
            <a:off x="3987276" y="1421875"/>
            <a:ext cx="4280801" cy="3287525"/>
          </a:xfrm>
          <a:prstGeom prst="rect">
            <a:avLst/>
          </a:prstGeom>
          <a:noFill/>
          <a:ln>
            <a:noFill/>
          </a:ln>
        </p:spPr>
      </p:pic>
      <p:pic>
        <p:nvPicPr>
          <p:cNvPr id="100" name="Google Shape;100;p19"/>
          <p:cNvPicPr preferRelativeResize="0"/>
          <p:nvPr/>
        </p:nvPicPr>
        <p:blipFill>
          <a:blip r:embed="rId4">
            <a:alphaModFix/>
          </a:blip>
          <a:stretch>
            <a:fillRect/>
          </a:stretch>
        </p:blipFill>
        <p:spPr>
          <a:xfrm>
            <a:off x="375425" y="1965025"/>
            <a:ext cx="4093001" cy="1023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DiGraph</a:t>
            </a:r>
            <a:endParaRPr/>
          </a:p>
        </p:txBody>
      </p:sp>
      <p:pic>
        <p:nvPicPr>
          <p:cNvPr id="106" name="Google Shape;106;p20"/>
          <p:cNvPicPr preferRelativeResize="0"/>
          <p:nvPr/>
        </p:nvPicPr>
        <p:blipFill>
          <a:blip r:embed="rId3">
            <a:alphaModFix/>
          </a:blip>
          <a:stretch>
            <a:fillRect/>
          </a:stretch>
        </p:blipFill>
        <p:spPr>
          <a:xfrm>
            <a:off x="190375" y="2091625"/>
            <a:ext cx="4923174" cy="1291325"/>
          </a:xfrm>
          <a:prstGeom prst="rect">
            <a:avLst/>
          </a:prstGeom>
          <a:noFill/>
          <a:ln>
            <a:noFill/>
          </a:ln>
        </p:spPr>
      </p:pic>
      <p:pic>
        <p:nvPicPr>
          <p:cNvPr id="107" name="Google Shape;107;p20"/>
          <p:cNvPicPr preferRelativeResize="0"/>
          <p:nvPr/>
        </p:nvPicPr>
        <p:blipFill>
          <a:blip r:embed="rId4">
            <a:alphaModFix/>
          </a:blip>
          <a:stretch>
            <a:fillRect/>
          </a:stretch>
        </p:blipFill>
        <p:spPr>
          <a:xfrm>
            <a:off x="5394093" y="0"/>
            <a:ext cx="3530264"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MultiGraph</a:t>
            </a:r>
            <a:endParaRPr/>
          </a:p>
        </p:txBody>
      </p:sp>
      <p:sp>
        <p:nvSpPr>
          <p:cNvPr id="113" name="Google Shape;113;p21"/>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Hard to visualize this type!</a:t>
            </a:r>
            <a:endParaRPr/>
          </a:p>
          <a:p>
            <a:pPr indent="-342900" lvl="0" marL="457200" rtl="0" algn="l">
              <a:spcBef>
                <a:spcPts val="0"/>
              </a:spcBef>
              <a:spcAft>
                <a:spcPts val="0"/>
              </a:spcAft>
              <a:buSzPts val="1800"/>
              <a:buChar char="●"/>
            </a:pPr>
            <a:r>
              <a:rPr lang="en"/>
              <a:t>Different edges:</a:t>
            </a:r>
            <a:endParaRPr/>
          </a:p>
          <a:p>
            <a:pPr indent="-317500" lvl="1" marL="914400" rtl="0" algn="l">
              <a:spcBef>
                <a:spcPts val="0"/>
              </a:spcBef>
              <a:spcAft>
                <a:spcPts val="0"/>
              </a:spcAft>
              <a:buSzPts val="1400"/>
              <a:buChar char="○"/>
            </a:pPr>
            <a:r>
              <a:rPr lang="en"/>
              <a:t>0 and 1 can be friends and at the same time neighbors, so two types of edges and relations.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Type is Correct Here?</a:t>
            </a:r>
            <a:endParaRPr/>
          </a:p>
        </p:txBody>
      </p:sp>
      <p:sp>
        <p:nvSpPr>
          <p:cNvPr id="119" name="Google Shape;119;p22"/>
          <p:cNvSpPr txBox="1"/>
          <p:nvPr>
            <p:ph idx="1" type="body"/>
          </p:nvPr>
        </p:nvSpPr>
        <p:spPr>
          <a:xfrm>
            <a:off x="311700" y="1468825"/>
            <a:ext cx="86799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Movie data</a:t>
            </a:r>
            <a:endParaRPr/>
          </a:p>
          <a:p>
            <a:pPr indent="0" lvl="0" marL="0" rtl="0" algn="l">
              <a:spcBef>
                <a:spcPts val="1600"/>
              </a:spcBef>
              <a:spcAft>
                <a:spcPts val="0"/>
              </a:spcAft>
              <a:buNone/>
            </a:pPr>
            <a:r>
              <a:rPr lang="en"/>
              <a:t>In this network nodes are actors and edges connecting actors that have appeared in a movie together.</a:t>
            </a:r>
            <a:endParaRPr/>
          </a:p>
          <a:p>
            <a:pPr indent="0" lvl="0" marL="0" rtl="0" algn="l">
              <a:spcBef>
                <a:spcPts val="1600"/>
              </a:spcBef>
              <a:spcAft>
                <a:spcPts val="0"/>
              </a:spcAft>
              <a:buNone/>
            </a:pPr>
            <a:r>
              <a:rPr lang="en"/>
              <a:t>What type of network will be appropriate to use here?</a:t>
            </a:r>
            <a:endParaRPr/>
          </a:p>
          <a:p>
            <a:pPr indent="0" lvl="0" marL="0" rtl="0" algn="l">
              <a:spcBef>
                <a:spcPts val="1600"/>
              </a:spcBef>
              <a:spcAft>
                <a:spcPts val="1600"/>
              </a:spcAft>
              <a:buNone/>
            </a:pPr>
            <a:r>
              <a:t/>
            </a:r>
            <a:endParaRPr/>
          </a:p>
        </p:txBody>
      </p:sp>
      <p:pic>
        <p:nvPicPr>
          <p:cNvPr id="120" name="Google Shape;120;p22"/>
          <p:cNvPicPr preferRelativeResize="0"/>
          <p:nvPr/>
        </p:nvPicPr>
        <p:blipFill>
          <a:blip r:embed="rId3">
            <a:alphaModFix/>
          </a:blip>
          <a:stretch>
            <a:fillRect/>
          </a:stretch>
        </p:blipFill>
        <p:spPr>
          <a:xfrm>
            <a:off x="0" y="3622225"/>
            <a:ext cx="9144002" cy="2188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Create This Network!</a:t>
            </a:r>
            <a:endParaRPr/>
          </a:p>
        </p:txBody>
      </p:sp>
      <p:sp>
        <p:nvSpPr>
          <p:cNvPr id="126" name="Google Shape;126;p23"/>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Refer to code! (create_network.py)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Use Gephi.</a:t>
            </a:r>
            <a:endParaRPr/>
          </a:p>
        </p:txBody>
      </p:sp>
      <p:sp>
        <p:nvSpPr>
          <p:cNvPr id="132" name="Google Shape;132;p2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Gephi?</a:t>
            </a:r>
            <a:endParaRPr/>
          </a:p>
          <a:p>
            <a:pPr indent="-317500" lvl="1" marL="914400" rtl="0" algn="l">
              <a:spcBef>
                <a:spcPts val="0"/>
              </a:spcBef>
              <a:spcAft>
                <a:spcPts val="0"/>
              </a:spcAft>
              <a:buSzPts val="1400"/>
              <a:buChar char="○"/>
            </a:pPr>
            <a:r>
              <a:rPr lang="en"/>
              <a:t>“Gephi is the leading visualization and exploration software for all kinds of graphs and networks.”</a:t>
            </a:r>
            <a:endParaRPr/>
          </a:p>
          <a:p>
            <a:pPr indent="-317500" lvl="1" marL="914400" rtl="0" algn="l">
              <a:spcBef>
                <a:spcPts val="0"/>
              </a:spcBef>
              <a:spcAft>
                <a:spcPts val="0"/>
              </a:spcAft>
              <a:buSzPts val="1400"/>
              <a:buChar char="○"/>
            </a:pPr>
            <a:r>
              <a:rPr lang="en"/>
              <a:t>https://gephi.org/</a:t>
            </a:r>
            <a:endParaRPr b="1" sz="950">
              <a:solidFill>
                <a:srgbClr val="666666"/>
              </a:solidFill>
              <a:highlight>
                <a:srgbClr val="FFFFFF"/>
              </a:highlight>
              <a:latin typeface="Verdana"/>
              <a:ea typeface="Verdana"/>
              <a:cs typeface="Verdana"/>
              <a:sym typeface="Verdana"/>
            </a:endParaRPr>
          </a:p>
          <a:p>
            <a:pPr indent="-342900" lvl="0" marL="457200" rtl="0" algn="l">
              <a:spcBef>
                <a:spcPts val="0"/>
              </a:spcBef>
              <a:spcAft>
                <a:spcPts val="0"/>
              </a:spcAft>
              <a:buSzPts val="1800"/>
              <a:buChar char="●"/>
            </a:pPr>
            <a:r>
              <a:rPr lang="en"/>
              <a:t>Install Gephi</a:t>
            </a:r>
            <a:endParaRPr/>
          </a:p>
          <a:p>
            <a:pPr indent="-317500" lvl="1" marL="914400" rtl="0" algn="l">
              <a:spcBef>
                <a:spcPts val="0"/>
              </a:spcBef>
              <a:spcAft>
                <a:spcPts val="0"/>
              </a:spcAft>
              <a:buSzPts val="1400"/>
              <a:buChar char="○"/>
            </a:pPr>
            <a:r>
              <a:rPr lang="en"/>
              <a:t>https://gephi.org/users/install/</a:t>
            </a:r>
            <a:endParaRPr/>
          </a:p>
          <a:p>
            <a:pPr indent="-342900" lvl="0" marL="457200" rtl="0" algn="l">
              <a:spcBef>
                <a:spcPts val="0"/>
              </a:spcBef>
              <a:spcAft>
                <a:spcPts val="0"/>
              </a:spcAft>
              <a:buSzPts val="1800"/>
              <a:buChar char="●"/>
            </a:pPr>
            <a:r>
              <a:rPr lang="en"/>
              <a:t>Gephi Tutorial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Load a Graph</a:t>
            </a:r>
            <a:endParaRPr/>
          </a:p>
        </p:txBody>
      </p:sp>
      <p:sp>
        <p:nvSpPr>
          <p:cNvPr id="138" name="Google Shape;138;p25"/>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avoid creating the network everytime you can save and load graphs!</a:t>
            </a:r>
            <a:endParaRPr/>
          </a:p>
          <a:p>
            <a:pPr indent="0" lvl="0" marL="0" rtl="0" algn="l">
              <a:spcBef>
                <a:spcPts val="1600"/>
              </a:spcBef>
              <a:spcAft>
                <a:spcPts val="0"/>
              </a:spcAft>
              <a:buNone/>
            </a:pPr>
            <a:r>
              <a:rPr lang="en"/>
              <a:t>You want to calculate the total number of movies per actor and list the top five, but you do not want to recreate the network all over, so you just load the previously created graph.</a:t>
            </a:r>
            <a:endParaRPr/>
          </a:p>
          <a:p>
            <a:pPr indent="0" lvl="0" marL="0" rtl="0" algn="l">
              <a:spcBef>
                <a:spcPts val="1600"/>
              </a:spcBef>
              <a:spcAft>
                <a:spcPts val="1600"/>
              </a:spcAft>
              <a:buNone/>
            </a:pPr>
            <a:r>
              <a:rPr lang="en"/>
              <a:t>Show the code. (movie_per_actor.py)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and Degree centrality</a:t>
            </a:r>
            <a:endParaRPr/>
          </a:p>
        </p:txBody>
      </p:sp>
      <p:sp>
        <p:nvSpPr>
          <p:cNvPr id="144" name="Google Shape;144;p26"/>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Degree: Number of edges touching a node.</a:t>
            </a:r>
            <a:endParaRPr/>
          </a:p>
          <a:p>
            <a:pPr indent="-342900" lvl="0" marL="457200" rtl="0" algn="l">
              <a:spcBef>
                <a:spcPts val="0"/>
              </a:spcBef>
              <a:spcAft>
                <a:spcPts val="0"/>
              </a:spcAft>
              <a:buSzPts val="1800"/>
              <a:buChar char="●"/>
            </a:pPr>
            <a:r>
              <a:rPr lang="en"/>
              <a:t>Degree centrality: degree of a node/maximum possible degree (number of nodes in the network minus one)</a:t>
            </a:r>
            <a:endParaRPr/>
          </a:p>
          <a:p>
            <a:pPr indent="0" lvl="0" marL="0" rtl="0" algn="l">
              <a:spcBef>
                <a:spcPts val="1600"/>
              </a:spcBef>
              <a:spcAft>
                <a:spcPts val="0"/>
              </a:spcAft>
              <a:buNone/>
            </a:pPr>
            <a:r>
              <a:rPr lang="en"/>
              <a:t>Code</a:t>
            </a:r>
            <a:endParaRPr/>
          </a:p>
          <a:p>
            <a:pPr indent="-342900" lvl="0" marL="457200" rtl="0" algn="l">
              <a:spcBef>
                <a:spcPts val="1600"/>
              </a:spcBef>
              <a:spcAft>
                <a:spcPts val="0"/>
              </a:spcAft>
              <a:buSzPts val="1800"/>
              <a:buChar char="●"/>
            </a:pPr>
            <a:r>
              <a:rPr lang="en"/>
              <a:t>For degree: G.degree(v)</a:t>
            </a:r>
            <a:endParaRPr/>
          </a:p>
          <a:p>
            <a:pPr indent="-342900" lvl="0" marL="457200" rtl="0" algn="l">
              <a:spcBef>
                <a:spcPts val="0"/>
              </a:spcBef>
              <a:spcAft>
                <a:spcPts val="0"/>
              </a:spcAft>
              <a:buSzPts val="1800"/>
              <a:buChar char="●"/>
            </a:pPr>
            <a:r>
              <a:rPr lang="en"/>
              <a:t>For degree centrality: nx.degree_centrality(G)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Exercise</a:t>
            </a:r>
            <a:endParaRPr/>
          </a:p>
        </p:txBody>
      </p:sp>
      <p:pic>
        <p:nvPicPr>
          <p:cNvPr id="150" name="Google Shape;150;p27"/>
          <p:cNvPicPr preferRelativeResize="0"/>
          <p:nvPr/>
        </p:nvPicPr>
        <p:blipFill>
          <a:blip r:embed="rId3">
            <a:alphaModFix/>
          </a:blip>
          <a:stretch>
            <a:fillRect/>
          </a:stretch>
        </p:blipFill>
        <p:spPr>
          <a:xfrm>
            <a:off x="134775" y="4279562"/>
            <a:ext cx="9009225" cy="571538"/>
          </a:xfrm>
          <a:prstGeom prst="rect">
            <a:avLst/>
          </a:prstGeom>
          <a:noFill/>
          <a:ln>
            <a:noFill/>
          </a:ln>
        </p:spPr>
      </p:pic>
      <p:pic>
        <p:nvPicPr>
          <p:cNvPr id="151" name="Google Shape;151;p27"/>
          <p:cNvPicPr preferRelativeResize="0"/>
          <p:nvPr/>
        </p:nvPicPr>
        <p:blipFill rotWithShape="1">
          <a:blip r:embed="rId4">
            <a:alphaModFix/>
          </a:blip>
          <a:srcRect b="0" l="10894" r="3796" t="0"/>
          <a:stretch/>
        </p:blipFill>
        <p:spPr>
          <a:xfrm>
            <a:off x="1620575" y="90650"/>
            <a:ext cx="7398176" cy="4026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see its </a:t>
            </a:r>
            <a:r>
              <a:rPr lang="en"/>
              <a:t>usefulness</a:t>
            </a:r>
            <a:r>
              <a:rPr lang="en"/>
              <a:t> in live!</a:t>
            </a:r>
            <a:endParaRPr/>
          </a:p>
        </p:txBody>
      </p:sp>
      <p:sp>
        <p:nvSpPr>
          <p:cNvPr id="157" name="Google Shape;157;p28"/>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actor worked with many other actors?</a:t>
            </a:r>
            <a:endParaRPr/>
          </a:p>
          <a:p>
            <a:pPr indent="0" lvl="0" marL="0" rtl="0" algn="l">
              <a:spcBef>
                <a:spcPts val="1600"/>
              </a:spcBef>
              <a:spcAft>
                <a:spcPts val="1600"/>
              </a:spcAft>
              <a:buNone/>
            </a:pPr>
            <a:r>
              <a:rPr lang="en"/>
              <a:t>Refer to code (active_actor.py)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Distribution</a:t>
            </a:r>
            <a:endParaRPr/>
          </a:p>
        </p:txBody>
      </p:sp>
      <p:sp>
        <p:nvSpPr>
          <p:cNvPr id="163" name="Google Shape;163;p29"/>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class you went over degree distribution.</a:t>
            </a:r>
            <a:endParaRPr/>
          </a:p>
          <a:p>
            <a:pPr indent="0" lvl="0" marL="0" rtl="0" algn="l">
              <a:spcBef>
                <a:spcPts val="1600"/>
              </a:spcBef>
              <a:spcAft>
                <a:spcPts val="1600"/>
              </a:spcAft>
              <a:buNone/>
            </a:pPr>
            <a:r>
              <a:rPr lang="en"/>
              <a:t>Lets plot the degree distribution of our graph this time if the graph is a simple undirected graph!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a:t>
            </a:r>
            <a:r>
              <a:rPr lang="en"/>
              <a:t>Centrality</a:t>
            </a:r>
            <a:endParaRPr/>
          </a:p>
        </p:txBody>
      </p:sp>
      <p:sp>
        <p:nvSpPr>
          <p:cNvPr id="169" name="Google Shape;169;p30"/>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Number of shortest paths that pass through a node.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You can also use networkx’s betweenness_centrality to </a:t>
            </a:r>
            <a:r>
              <a:rPr lang="en"/>
              <a:t>achieve</a:t>
            </a:r>
            <a:r>
              <a:rPr lang="en"/>
              <a:t> this.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70" name="Google Shape;170;p30"/>
          <p:cNvPicPr preferRelativeResize="0"/>
          <p:nvPr/>
        </p:nvPicPr>
        <p:blipFill>
          <a:blip r:embed="rId3">
            <a:alphaModFix/>
          </a:blip>
          <a:stretch>
            <a:fillRect/>
          </a:stretch>
        </p:blipFill>
        <p:spPr>
          <a:xfrm>
            <a:off x="2375900" y="2031975"/>
            <a:ext cx="3670550" cy="1079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you need to do in the homework</a:t>
            </a:r>
            <a:endParaRPr/>
          </a:p>
        </p:txBody>
      </p:sp>
      <p:sp>
        <p:nvSpPr>
          <p:cNvPr id="176" name="Google Shape;176;p31"/>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For the first part of the homework</a:t>
            </a:r>
            <a:endParaRPr/>
          </a:p>
          <a:p>
            <a:pPr indent="-317500" lvl="1" marL="914400" rtl="0" algn="l">
              <a:spcBef>
                <a:spcPts val="0"/>
              </a:spcBef>
              <a:spcAft>
                <a:spcPts val="0"/>
              </a:spcAft>
              <a:buSzPts val="1400"/>
              <a:buChar char="○"/>
            </a:pPr>
            <a:r>
              <a:rPr lang="en"/>
              <a:t>You will need to create a retweet network</a:t>
            </a:r>
            <a:endParaRPr/>
          </a:p>
          <a:p>
            <a:pPr indent="-317500" lvl="1" marL="914400" rtl="0" algn="l">
              <a:spcBef>
                <a:spcPts val="0"/>
              </a:spcBef>
              <a:spcAft>
                <a:spcPts val="0"/>
              </a:spcAft>
              <a:buSzPts val="1400"/>
              <a:buChar char="○"/>
            </a:pPr>
            <a:r>
              <a:rPr lang="en"/>
              <a:t>Do some analysis based on the degree of the nodes (note in that case direction matters as we are dealing with a directed graph)</a:t>
            </a:r>
            <a:endParaRPr/>
          </a:p>
          <a:p>
            <a:pPr indent="-342900" lvl="0" marL="457200" rtl="0" algn="l">
              <a:spcBef>
                <a:spcPts val="0"/>
              </a:spcBef>
              <a:spcAft>
                <a:spcPts val="0"/>
              </a:spcAft>
              <a:buSzPts val="1800"/>
              <a:buChar char="●"/>
            </a:pPr>
            <a:r>
              <a:rPr lang="en"/>
              <a:t>We will cover what needs to be done for the second part of the homework next week</a:t>
            </a:r>
            <a:endParaRPr/>
          </a:p>
          <a:p>
            <a:pPr indent="-342900" lvl="0" marL="457200" rtl="0" algn="l">
              <a:spcBef>
                <a:spcPts val="0"/>
              </a:spcBef>
              <a:spcAft>
                <a:spcPts val="0"/>
              </a:spcAft>
              <a:buSzPts val="1800"/>
              <a:buChar char="●"/>
            </a:pPr>
            <a:r>
              <a:rPr lang="en"/>
              <a:t>Third part of the homework is just using gephi which was covered today.</a:t>
            </a:r>
            <a:endParaRPr/>
          </a:p>
          <a:p>
            <a:pPr indent="0" lvl="0" marL="91440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Other Types of Networks</a:t>
            </a:r>
            <a:endParaRPr/>
          </a:p>
        </p:txBody>
      </p:sp>
      <p:sp>
        <p:nvSpPr>
          <p:cNvPr id="182" name="Google Shape;182;p32"/>
          <p:cNvSpPr txBox="1"/>
          <p:nvPr>
            <p:ph idx="1" type="body"/>
          </p:nvPr>
        </p:nvSpPr>
        <p:spPr>
          <a:xfrm>
            <a:off x="311700" y="1468825"/>
            <a:ext cx="33534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Retweet Network</a:t>
            </a:r>
            <a:endParaRPr/>
          </a:p>
          <a:p>
            <a:pPr indent="0" lvl="0" marL="0" rtl="0" algn="l">
              <a:spcBef>
                <a:spcPts val="1600"/>
              </a:spcBef>
              <a:spcAft>
                <a:spcPts val="0"/>
              </a:spcAft>
              <a:buNone/>
            </a:pPr>
            <a:r>
              <a:rPr lang="en"/>
              <a:t>What would be its type?</a:t>
            </a:r>
            <a:endParaRPr/>
          </a:p>
          <a:p>
            <a:pPr indent="0" lvl="0" marL="0" rtl="0" algn="l">
              <a:spcBef>
                <a:spcPts val="1600"/>
              </a:spcBef>
              <a:spcAft>
                <a:spcPts val="1600"/>
              </a:spcAft>
              <a:buNone/>
            </a:pPr>
            <a:r>
              <a:rPr lang="en"/>
              <a:t>Relation X retweets Y (edge between X source to Y target)</a:t>
            </a:r>
            <a:endParaRPr/>
          </a:p>
        </p:txBody>
      </p:sp>
      <p:pic>
        <p:nvPicPr>
          <p:cNvPr id="183" name="Google Shape;183;p32"/>
          <p:cNvPicPr preferRelativeResize="0"/>
          <p:nvPr/>
        </p:nvPicPr>
        <p:blipFill rotWithShape="1">
          <a:blip r:embed="rId3">
            <a:alphaModFix/>
          </a:blip>
          <a:srcRect b="0" l="2729" r="4746" t="0"/>
          <a:stretch/>
        </p:blipFill>
        <p:spPr>
          <a:xfrm>
            <a:off x="3642075" y="1009775"/>
            <a:ext cx="5448423" cy="40686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Next Time</a:t>
            </a:r>
            <a:endParaRPr/>
          </a:p>
        </p:txBody>
      </p:sp>
      <p:sp>
        <p:nvSpPr>
          <p:cNvPr id="189" name="Google Shape;189;p33"/>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will discuss about community detection algorithms.</a:t>
            </a:r>
            <a:endParaRPr/>
          </a:p>
          <a:p>
            <a:pPr indent="-342900" lvl="0" marL="457200" rtl="0" algn="l">
              <a:spcBef>
                <a:spcPts val="0"/>
              </a:spcBef>
              <a:spcAft>
                <a:spcPts val="0"/>
              </a:spcAft>
              <a:buSzPts val="1800"/>
              <a:buChar char="●"/>
            </a:pPr>
            <a:r>
              <a:rPr lang="en"/>
              <a:t>We will have a tutorial on training a text classifier.</a:t>
            </a:r>
            <a:endParaRPr/>
          </a:p>
          <a:p>
            <a:pPr indent="-342900" lvl="0" marL="457200" rtl="0" algn="l">
              <a:spcBef>
                <a:spcPts val="0"/>
              </a:spcBef>
              <a:spcAft>
                <a:spcPts val="0"/>
              </a:spcAft>
              <a:buSzPts val="1800"/>
              <a:buChar char="●"/>
            </a:pPr>
            <a:r>
              <a:rPr lang="en"/>
              <a:t>These two sessions (today and next) will hopefully contain all you need to finish doing your homework.</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195" name="Google Shape;195;p3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material of this lecture was partly adapted from Rhydian Lewis’s tutorial.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